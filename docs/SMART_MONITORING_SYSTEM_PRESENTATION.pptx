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F59E0B"/>
                </a:solidFill>
              </a:rPr>
              <a:t>KONGU ENGINEERING COLLEGE (AUTONOMOUS)
DEPARTMENT OF MECHATRONICS ENGINEERING</a:t>
            </a:r>
          </a:p>
          <a:p>
            <a:pPr algn="ctr"/>
            <a:r>
              <a:rPr b="1" sz="2600">
                <a:solidFill>
                  <a:srgbClr val="F8FAFC"/>
                </a:solidFill>
              </a:rPr>
              <a:t>
SMART MONITORING SYSTEM FOR AGRICULTURAL FIELDS USING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474720"/>
            <a:ext cx="4389120" cy="2560320"/>
          </a:xfrm>
          <a:prstGeom prst="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F59E0B"/>
                </a:solidFill>
              </a:rPr>
              <a:t>SUBMITTED BY:
</a:t>
            </a:r>
          </a:p>
          <a:p>
            <a:r>
              <a:rPr sz="1400" b="1">
                <a:solidFill>
                  <a:srgbClr val="F8FAFC"/>
                </a:solidFill>
              </a:rPr>
              <a:t>1. Yogesh A  (25MTR123)</a:t>
            </a:r>
          </a:p>
          <a:p>
            <a:r>
              <a:rPr sz="1400" b="1">
                <a:solidFill>
                  <a:srgbClr val="F8FAFC"/>
                </a:solidFill>
              </a:rPr>
              <a:t>2. SUSHMITA B  (25MTR106)</a:t>
            </a:r>
          </a:p>
          <a:p>
            <a:r>
              <a:rPr sz="1400" b="1">
                <a:solidFill>
                  <a:srgbClr val="F8FAFC"/>
                </a:solidFill>
              </a:rPr>
              <a:t>3. SOPIA S  (25MTR094)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3474720"/>
            <a:ext cx="4389120" cy="2560320"/>
          </a:xfrm>
          <a:prstGeom prst="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F59E0B"/>
                </a:solidFill>
              </a:rPr>
              <a:t>PROJECT SUPERVISOR:
</a:t>
            </a:r>
          </a:p>
          <a:p>
            <a:r>
              <a:rPr sz="1500" b="1">
                <a:solidFill>
                  <a:srgbClr val="F8FAFC"/>
                </a:solidFill>
              </a:rPr>
              <a:t>Dr. S. K. THANGARASU, B.E., M.E., Ph.D.
</a:t>
            </a:r>
          </a:p>
          <a:p>
            <a:r>
              <a:rPr sz="1300">
                <a:solidFill>
                  <a:srgbClr val="94A3B8"/>
                </a:solidFill>
              </a:rPr>
              <a:t>Associate Professor
Department of Mechatronics Engineering
Kongu Engineering College, Perundurai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F59E0B"/>
                </a:solidFill>
              </a:rPr>
              <a:t>MECHATRONICS ENGINEERING</a:t>
            </a:r>
          </a:p>
          <a:p>
            <a:r>
              <a:rPr b="1" sz="2400">
                <a:solidFill>
                  <a:srgbClr val="F8FAFC"/>
                </a:solidFill>
              </a:rPr>
              <a:t>Project Abstract &amp; System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500">
                <a:solidFill>
                  <a:srgbClr val="F59E0B"/>
                </a:solidFill>
              </a:rPr>
              <a:t>PROJECT ABSTRACT
</a:t>
            </a:r>
          </a:p>
          <a:p>
            <a:r>
              <a:rPr sz="1300">
                <a:solidFill>
                  <a:srgbClr val="F8FAFC"/>
                </a:solidFill>
              </a:rPr>
              <a:t>• Regular agricultural field inspection is vital to identify insect attacks and crop damage early.
</a:t>
            </a:r>
          </a:p>
          <a:p>
            <a:r>
              <a:rPr sz="1300">
                <a:solidFill>
                  <a:srgbClr val="F8FAFC"/>
                </a:solidFill>
              </a:rPr>
              <a:t>• Conventional visual inspection is labour-intensive, costly, and difficult to cover large fields consistently.
</a:t>
            </a:r>
          </a:p>
          <a:p>
            <a:r>
              <a:rPr sz="1300">
                <a:solidFill>
                  <a:srgbClr val="F8FAFC"/>
                </a:solidFill>
              </a:rPr>
              <a:t>• Combines drone-mounted RGB imaging, AI classification, GPS tagging, and mobile application reporting.
</a:t>
            </a:r>
          </a:p>
          <a:p>
            <a:r>
              <a:rPr sz="1300">
                <a:solidFill>
                  <a:srgbClr val="F8FAFC"/>
                </a:solidFill>
              </a:rPr>
              <a:t>• Classifies plant health into: Normal vs Suspected Insect-Affected.
</a:t>
            </a:r>
          </a:p>
          <a:p>
            <a:r>
              <a:rPr sz="1300">
                <a:solidFill>
                  <a:srgbClr val="F8FAFC"/>
                </a:solidFill>
              </a:rPr>
              <a:t>• Acts as an intelligent decision-support aid for prioritized field inspection.
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645920"/>
            <a:ext cx="5120640" cy="4572000"/>
          </a:xfrm>
          <a:prstGeom prst="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500">
                <a:solidFill>
                  <a:srgbClr val="F59E0B"/>
                </a:solidFill>
              </a:rPr>
              <a:t>MOTIVATION &amp; PROBLEM NEED
</a:t>
            </a:r>
          </a:p>
          <a:p>
            <a:r>
              <a:rPr sz="1300">
                <a:solidFill>
                  <a:srgbClr val="F8FAFC"/>
                </a:solidFill>
              </a:rPr>
              <a:t>• Quicker coverage of large and uneven plantation areas.
</a:t>
            </a:r>
          </a:p>
          <a:p>
            <a:r>
              <a:rPr sz="1300">
                <a:solidFill>
                  <a:srgbClr val="F8FAFC"/>
                </a:solidFill>
              </a:rPr>
              <a:t>• Early identification of pest attacks prevents extensive crop loss.
</a:t>
            </a:r>
          </a:p>
          <a:p>
            <a:r>
              <a:rPr sz="1300">
                <a:solidFill>
                  <a:srgbClr val="F8FAFC"/>
                </a:solidFill>
              </a:rPr>
              <a:t>• GPS-linked records allow field workers to revisit exact coordinates.
</a:t>
            </a:r>
          </a:p>
          <a:p>
            <a:r>
              <a:rPr sz="1300">
                <a:solidFill>
                  <a:srgbClr val="F8FAFC"/>
                </a:solidFill>
              </a:rPr>
              <a:t>• Reduces human fatigue and dependence on observer bias.
</a:t>
            </a:r>
          </a:p>
          <a:p>
            <a:r>
              <a:rPr sz="1300">
                <a:solidFill>
                  <a:srgbClr val="F8FAFC"/>
                </a:solidFill>
              </a:rPr>
              <a:t>• Systematic digital documentation of agricultural health records.
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F59E0B"/>
                </a:solidFill>
              </a:rPr>
              <a:t>MECHATRONICS ENGINEERING</a:t>
            </a:r>
          </a:p>
          <a:p>
            <a:r>
              <a:rPr b="1" sz="2400">
                <a:solidFill>
                  <a:srgbClr val="F8FAFC"/>
                </a:solidFill>
              </a:rPr>
              <a:t>Project Objectives &amp;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500">
                <a:solidFill>
                  <a:srgbClr val="F59E0B"/>
                </a:solidFill>
              </a:rPr>
              <a:t>PRIMARY OBJECTIVES
</a:t>
            </a:r>
          </a:p>
          <a:p>
            <a:r>
              <a:rPr sz="1300">
                <a:solidFill>
                  <a:srgbClr val="F8FAFC"/>
                </a:solidFill>
              </a:rPr>
              <a:t>• Capture aerial RGB plant images using a drone-mounted camera.
</a:t>
            </a:r>
          </a:p>
          <a:p>
            <a:r>
              <a:rPr sz="1300">
                <a:solidFill>
                  <a:srgbClr val="F8FAFC"/>
                </a:solidFill>
              </a:rPr>
              <a:t>• Prepare and curate a labelled dataset for model training and validation.
</a:t>
            </a:r>
          </a:p>
          <a:p>
            <a:r>
              <a:rPr sz="1300">
                <a:solidFill>
                  <a:srgbClr val="F8FAFC"/>
                </a:solidFill>
              </a:rPr>
              <a:t>• Classify images into Normal and Suspected Insect-Affected categories using AI.
</a:t>
            </a:r>
          </a:p>
          <a:p>
            <a:r>
              <a:rPr sz="1300">
                <a:solidFill>
                  <a:srgbClr val="F8FAFC"/>
                </a:solidFill>
              </a:rPr>
              <a:t>• Associate visual observations with GPS coordinates and timestamps.
</a:t>
            </a:r>
          </a:p>
          <a:p>
            <a:r>
              <a:rPr sz="1300">
                <a:solidFill>
                  <a:srgbClr val="F8FAFC"/>
                </a:solidFill>
              </a:rPr>
              <a:t>• Display detection results and flagged alerts via a mobile interface.
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645920"/>
            <a:ext cx="5120640" cy="4572000"/>
          </a:xfrm>
          <a:prstGeom prst="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500">
                <a:solidFill>
                  <a:srgbClr val="F59E0B"/>
                </a:solidFill>
              </a:rPr>
              <a:t>SCOPE &amp; IMPACT
</a:t>
            </a:r>
          </a:p>
          <a:p>
            <a:r>
              <a:rPr sz="1300">
                <a:solidFill>
                  <a:srgbClr val="F8FAFC"/>
                </a:solidFill>
              </a:rPr>
              <a:t>• Target Crop Focus: Agricultural fields plantations.
</a:t>
            </a:r>
          </a:p>
          <a:p>
            <a:r>
              <a:rPr sz="1300">
                <a:solidFill>
                  <a:srgbClr val="F8FAFC"/>
                </a:solidFill>
              </a:rPr>
              <a:t>• Screening Automation: Prioritizes expert visits to high-risk zones.
</a:t>
            </a:r>
          </a:p>
          <a:p>
            <a:r>
              <a:rPr sz="1300">
                <a:solidFill>
                  <a:srgbClr val="F8FAFC"/>
                </a:solidFill>
              </a:rPr>
              <a:t>• Precision Agriculture: Enhances resource management and targeted treatment.
</a:t>
            </a:r>
          </a:p>
          <a:p>
            <a:r>
              <a:rPr sz="1300">
                <a:solidFill>
                  <a:srgbClr val="F8FAFC"/>
                </a:solidFill>
              </a:rPr>
              <a:t>• Sustainable Farming: Contributes to reduced pesticide overuse.
</a:t>
            </a:r>
          </a:p>
          <a:p>
            <a:r>
              <a:rPr sz="1300">
                <a:solidFill>
                  <a:srgbClr val="F8FAFC"/>
                </a:solidFill>
              </a:rPr>
              <a:t>• Mechatronics Integration: Merges aerial robotics, computer vision, and IoT.
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F59E0B"/>
                </a:solidFill>
              </a:rPr>
              <a:t>MECHATRONICS ENGINEERING</a:t>
            </a:r>
          </a:p>
          <a:p>
            <a:r>
              <a:rPr b="1" sz="2400">
                <a:solidFill>
                  <a:srgbClr val="F8FAFC"/>
                </a:solidFill>
              </a:rPr>
              <a:t>System Architecture &amp; 5-Stage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500">
                <a:solidFill>
                  <a:srgbClr val="F59E0B"/>
                </a:solidFill>
              </a:rPr>
              <a:t>5 CORE SYSTEM MODULES
</a:t>
            </a:r>
          </a:p>
          <a:p>
            <a:r>
              <a:rPr sz="1300">
                <a:solidFill>
                  <a:srgbClr val="F8FAFC"/>
                </a:solidFill>
              </a:rPr>
              <a:t>• 1. Image Acquisition Module: Drone-mounted visible-spectrum camera captures high-resolution imagery.
</a:t>
            </a:r>
          </a:p>
          <a:p>
            <a:r>
              <a:rPr sz="1300">
                <a:solidFill>
                  <a:srgbClr val="F8FAFC"/>
                </a:solidFill>
              </a:rPr>
              <a:t>• 2. Image Preparation Module: Quality checks, normalization, resizing, and preprocessing.
</a:t>
            </a:r>
          </a:p>
          <a:p>
            <a:r>
              <a:rPr sz="1300">
                <a:solidFill>
                  <a:srgbClr val="F8FAFC"/>
                </a:solidFill>
              </a:rPr>
              <a:t>• 3. AI Classification Module: Deep learning model predicts plant condition.
</a:t>
            </a:r>
          </a:p>
          <a:p>
            <a:r>
              <a:rPr sz="1300">
                <a:solidFill>
                  <a:srgbClr val="F8FAFC"/>
                </a:solidFill>
              </a:rPr>
              <a:t>• 4. Location Module: Associates GPS coordinates and observation timestamps.
</a:t>
            </a:r>
          </a:p>
          <a:p>
            <a:r>
              <a:rPr sz="1300">
                <a:solidFill>
                  <a:srgbClr val="F8FAFC"/>
                </a:solidFill>
              </a:rPr>
              <a:t>• 5. Mobile Reporting Module: Visualizes flagged targets on operator UI.
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645920"/>
            <a:ext cx="5120640" cy="4572000"/>
          </a:xfrm>
          <a:prstGeom prst="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500">
                <a:solidFill>
                  <a:srgbClr val="F59E0B"/>
                </a:solidFill>
              </a:rPr>
              <a:t>OPERATIONAL WORKFLOW STEPS
</a:t>
            </a:r>
          </a:p>
          <a:p>
            <a:r>
              <a:rPr sz="1300">
                <a:solidFill>
                  <a:srgbClr val="F8FAFC"/>
                </a:solidFill>
              </a:rPr>
              <a:t>• Step 1: Plan safe flight path and capture aerial crop images.
</a:t>
            </a:r>
          </a:p>
          <a:p>
            <a:r>
              <a:rPr sz="1300">
                <a:solidFill>
                  <a:srgbClr val="F8FAFC"/>
                </a:solidFill>
              </a:rPr>
              <a:t>• Step 2: Preprocess images and feed into trained AI model.
</a:t>
            </a:r>
          </a:p>
          <a:p>
            <a:r>
              <a:rPr sz="1300">
                <a:solidFill>
                  <a:srgbClr val="F8FAFC"/>
                </a:solidFill>
              </a:rPr>
              <a:t>• Step 3: Model outputs class prediction (Normal vs Insect-Affected).
</a:t>
            </a:r>
          </a:p>
          <a:p>
            <a:r>
              <a:rPr sz="1300">
                <a:solidFill>
                  <a:srgbClr val="F8FAFC"/>
                </a:solidFill>
              </a:rPr>
              <a:t>• Step 4: Attach GPS coordinates to observations.
</a:t>
            </a:r>
          </a:p>
          <a:p>
            <a:r>
              <a:rPr sz="1300">
                <a:solidFill>
                  <a:srgbClr val="F8FAFC"/>
                </a:solidFill>
              </a:rPr>
              <a:t>• Step 5: Transmit alerts to mobile interface for field verification.
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F59E0B"/>
                </a:solidFill>
              </a:rPr>
              <a:t>MECHATRONICS ENGINEERING</a:t>
            </a:r>
          </a:p>
          <a:p>
            <a:r>
              <a:rPr b="1" sz="2400">
                <a:solidFill>
                  <a:srgbClr val="F8FAFC"/>
                </a:solidFill>
              </a:rPr>
              <a:t>Hardware Platform &amp; Sensing Equipment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500">
                <a:solidFill>
                  <a:srgbClr val="F59E0B"/>
                </a:solidFill>
              </a:rPr>
              <a:t>HARDWARE SENSING STACK
</a:t>
            </a:r>
          </a:p>
          <a:p>
            <a:r>
              <a:rPr sz="1300">
                <a:solidFill>
                  <a:srgbClr val="F8FAFC"/>
                </a:solidFill>
              </a:rPr>
              <a:t>• Drone / UAV: Aerial mobility platform with vibration-damped gimbal.
</a:t>
            </a:r>
          </a:p>
          <a:p>
            <a:r>
              <a:rPr sz="1300">
                <a:solidFill>
                  <a:srgbClr val="F8FAFC"/>
                </a:solidFill>
              </a:rPr>
              <a:t>• RGB Camera: High-resolution visible spectrum imaging for leaf/crop inspection.
</a:t>
            </a:r>
          </a:p>
          <a:p>
            <a:r>
              <a:rPr sz="1300">
                <a:solidFill>
                  <a:srgbClr val="F8FAFC"/>
                </a:solidFill>
              </a:rPr>
              <a:t>• GPS Module: Precision spatial localization for geo-tagging detections.
</a:t>
            </a:r>
          </a:p>
          <a:p>
            <a:r>
              <a:rPr sz="1300">
                <a:solidFill>
                  <a:srgbClr val="F8FAFC"/>
                </a:solidFill>
              </a:rPr>
              <a:t>• Processing Device: Onboard or base station computer for AI model inference.
</a:t>
            </a:r>
          </a:p>
          <a:p>
            <a:r>
              <a:rPr sz="1300">
                <a:solidFill>
                  <a:srgbClr val="F8FAFC"/>
                </a:solidFill>
              </a:rPr>
              <a:t>• Mobile Device: Field smartphone / tablet for operator monitoring.
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645920"/>
            <a:ext cx="5120640" cy="4572000"/>
          </a:xfrm>
          <a:prstGeom prst="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500">
                <a:solidFill>
                  <a:srgbClr val="F59E0B"/>
                </a:solidFill>
              </a:rPr>
              <a:t>HARDWARE SELECTION CRITERIA
</a:t>
            </a:r>
          </a:p>
          <a:p>
            <a:r>
              <a:rPr sz="1300">
                <a:solidFill>
                  <a:srgbClr val="F8FAFC"/>
                </a:solidFill>
              </a:rPr>
              <a:t>• Plantation Size &amp; Flight Endurance: Battery optimization for broad field coverage.
</a:t>
            </a:r>
          </a:p>
          <a:p>
            <a:r>
              <a:rPr sz="1300">
                <a:solidFill>
                  <a:srgbClr val="F8FAFC"/>
                </a:solidFill>
              </a:rPr>
              <a:t>• Payload Capacity: Balanced weight distribution for stable flight.
</a:t>
            </a:r>
          </a:p>
          <a:p>
            <a:r>
              <a:rPr sz="1300">
                <a:solidFill>
                  <a:srgbClr val="F8FAFC"/>
                </a:solidFill>
              </a:rPr>
              <a:t>• Optical Resolution: High pixel density to capture micro-level leaf symptoms.
</a:t>
            </a:r>
          </a:p>
          <a:p>
            <a:r>
              <a:rPr sz="1300">
                <a:solidFill>
                  <a:srgbClr val="F8FAFC"/>
                </a:solidFill>
              </a:rPr>
              <a:t>• Environmental Durability: Wind resistance and field weather readiness.
</a:t>
            </a:r>
          </a:p>
          <a:p>
            <a:r>
              <a:rPr sz="1300">
                <a:solidFill>
                  <a:srgbClr val="F8FAFC"/>
                </a:solidFill>
              </a:rPr>
              <a:t>• Fail-Safe Operation: Return-to-home and obstacle avoidance protocols.
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F59E0B"/>
                </a:solidFill>
              </a:rPr>
              <a:t>MECHATRONICS ENGINEERING</a:t>
            </a:r>
          </a:p>
          <a:p>
            <a:r>
              <a:rPr b="1" sz="2400">
                <a:solidFill>
                  <a:srgbClr val="F8FAFC"/>
                </a:solidFill>
              </a:rPr>
              <a:t>AI Architecture &amp; Software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500">
                <a:solidFill>
                  <a:srgbClr val="F59E0B"/>
                </a:solidFill>
              </a:rPr>
              <a:t>AI IMAGE PROCESSING PIPELINE
</a:t>
            </a:r>
          </a:p>
          <a:p>
            <a:r>
              <a:rPr sz="1300">
                <a:solidFill>
                  <a:srgbClr val="F8FAFC"/>
                </a:solidFill>
              </a:rPr>
              <a:t>• Input Image Normalization: Standardized resolution and ImageNet color stats.
</a:t>
            </a:r>
          </a:p>
          <a:p>
            <a:r>
              <a:rPr sz="1300">
                <a:solidFill>
                  <a:srgbClr val="F8FAFC"/>
                </a:solidFill>
              </a:rPr>
              <a:t>• Deep Learning Feature Extractor: Convolutional neural networks extract visual leaf patterns.
</a:t>
            </a:r>
          </a:p>
          <a:p>
            <a:r>
              <a:rPr sz="1300">
                <a:solidFill>
                  <a:srgbClr val="F8FAFC"/>
                </a:solidFill>
              </a:rPr>
              <a:t>• Multi-Class Discrimination: Distinguishes between healthy foliage and insect damage.
</a:t>
            </a:r>
          </a:p>
          <a:p>
            <a:r>
              <a:rPr sz="1300">
                <a:solidFill>
                  <a:srgbClr val="F8FAFC"/>
                </a:solidFill>
              </a:rPr>
              <a:t>• Independent Validation: Model evaluated on strictly held-out test splits.
</a:t>
            </a:r>
          </a:p>
          <a:p>
            <a:r>
              <a:rPr sz="1300">
                <a:solidFill>
                  <a:srgbClr val="F8FAFC"/>
                </a:solidFill>
              </a:rPr>
              <a:t>• Decision Thresholding: Calibrated confidence metrics for actionable alerts.
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645920"/>
            <a:ext cx="5120640" cy="4572000"/>
          </a:xfrm>
          <a:prstGeom prst="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500">
                <a:solidFill>
                  <a:srgbClr val="F59E0B"/>
                </a:solidFill>
              </a:rPr>
              <a:t>SOFTWARE ECOSYSTEM
</a:t>
            </a:r>
          </a:p>
          <a:p>
            <a:r>
              <a:rPr sz="1300">
                <a:solidFill>
                  <a:srgbClr val="F8FAFC"/>
                </a:solidFill>
              </a:rPr>
              <a:t>• Operating System: Windows / Linux workstation environment.
</a:t>
            </a:r>
          </a:p>
          <a:p>
            <a:r>
              <a:rPr sz="1300">
                <a:solidFill>
                  <a:srgbClr val="F8FAFC"/>
                </a:solidFill>
              </a:rPr>
              <a:t>• Programming Framework: Python with PyTorch / OpenCV / Ultralytics.
</a:t>
            </a:r>
          </a:p>
          <a:p>
            <a:r>
              <a:rPr sz="1300">
                <a:solidFill>
                  <a:srgbClr val="F8FAFC"/>
                </a:solidFill>
              </a:rPr>
              <a:t>• Data Pipeline: Automated image augmentation, bounding box parsing, and scaling.
</a:t>
            </a:r>
          </a:p>
          <a:p>
            <a:r>
              <a:rPr sz="1300">
                <a:solidFill>
                  <a:srgbClr val="F8FAFC"/>
                </a:solidFill>
              </a:rPr>
              <a:t>• User Interface: Interactive Cockpit HUD with live telemetry and GPS overlay.
</a:t>
            </a:r>
          </a:p>
          <a:p>
            <a:r>
              <a:rPr sz="1300">
                <a:solidFill>
                  <a:srgbClr val="F8FAFC"/>
                </a:solidFill>
              </a:rPr>
              <a:t>• Security &amp; Safety Interlock: Protected operator safety protocols.
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F59E0B"/>
                </a:solidFill>
              </a:rPr>
              <a:t>MECHATRONICS ENGINEERING</a:t>
            </a:r>
          </a:p>
          <a:p>
            <a:r>
              <a:rPr b="1" sz="2400">
                <a:solidFill>
                  <a:srgbClr val="F8FAFC"/>
                </a:solidFill>
              </a:rPr>
              <a:t>Evaluation Metrics &amp; Verification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500">
                <a:solidFill>
                  <a:srgbClr val="F59E0B"/>
                </a:solidFill>
              </a:rPr>
              <a:t>QUANTITATIVE METRICS
</a:t>
            </a:r>
          </a:p>
          <a:p>
            <a:r>
              <a:rPr sz="1300">
                <a:solidFill>
                  <a:srgbClr val="F8FAFC"/>
                </a:solidFill>
              </a:rPr>
              <a:t>• Accuracy: Overall proportion of correctly classified test images.
</a:t>
            </a:r>
          </a:p>
          <a:p>
            <a:r>
              <a:rPr sz="1300">
                <a:solidFill>
                  <a:srgbClr val="F8FAFC"/>
                </a:solidFill>
              </a:rPr>
              <a:t>• Precision: Proportion of flagged insect detections that are true positives (reduces false alarms).
</a:t>
            </a:r>
          </a:p>
          <a:p>
            <a:r>
              <a:rPr sz="1300">
                <a:solidFill>
                  <a:srgbClr val="F8FAFC"/>
                </a:solidFill>
              </a:rPr>
              <a:t>• Recall: Proportion of affected plants successfully identified (critical for pest containment).
</a:t>
            </a:r>
          </a:p>
          <a:p>
            <a:r>
              <a:rPr sz="1300">
                <a:solidFill>
                  <a:srgbClr val="F8FAFC"/>
                </a:solidFill>
              </a:rPr>
              <a:t>• F1-Score: Harmonic mean balancing precision and recall.
</a:t>
            </a:r>
          </a:p>
          <a:p>
            <a:r>
              <a:rPr sz="1300">
                <a:solidFill>
                  <a:srgbClr val="F8FAFC"/>
                </a:solidFill>
              </a:rPr>
              <a:t>• Confusion Matrix: Detailed distribution of True/False predictions.
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645920"/>
            <a:ext cx="5120640" cy="4572000"/>
          </a:xfrm>
          <a:prstGeom prst="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500">
                <a:solidFill>
                  <a:srgbClr val="F59E0B"/>
                </a:solidFill>
              </a:rPr>
              <a:t>FIELD VERIFICATION PROCEDURE
</a:t>
            </a:r>
          </a:p>
          <a:p>
            <a:r>
              <a:rPr sz="1300">
                <a:solidFill>
                  <a:srgbClr val="F8FAFC"/>
                </a:solidFill>
              </a:rPr>
              <a:t>• Held-Out Testing: Testing exclusively on unseen plantation datasets.
</a:t>
            </a:r>
          </a:p>
          <a:p>
            <a:r>
              <a:rPr sz="1300">
                <a:solidFill>
                  <a:srgbClr val="F8FAFC"/>
                </a:solidFill>
              </a:rPr>
              <a:t>• Variable Environmental Conditions: Verification across sunlight, shadows, and leaf angles.
</a:t>
            </a:r>
          </a:p>
          <a:p>
            <a:r>
              <a:rPr sz="1300">
                <a:solidFill>
                  <a:srgbClr val="F8FAFC"/>
                </a:solidFill>
              </a:rPr>
              <a:t>• Ground Truth Validation: On-field inspection by agricultural experts.
</a:t>
            </a:r>
          </a:p>
          <a:p>
            <a:r>
              <a:rPr sz="1300">
                <a:solidFill>
                  <a:srgbClr val="F8FAFC"/>
                </a:solidFill>
              </a:rPr>
              <a:t>• Location Accuracy: Verifying GPS correspondence with actual plant coordinates.
</a:t>
            </a:r>
          </a:p>
          <a:p>
            <a:r>
              <a:rPr sz="1300">
                <a:solidFill>
                  <a:srgbClr val="F8FAFC"/>
                </a:solidFill>
              </a:rPr>
              <a:t>• Continuous Improvement: Error analysis feed for model retraining.
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F59E0B"/>
                </a:solidFill>
              </a:rPr>
              <a:t>MECHATRONICS ENGINEERING</a:t>
            </a:r>
          </a:p>
          <a:p>
            <a:r>
              <a:rPr b="1" sz="2400">
                <a:solidFill>
                  <a:srgbClr val="F8FAFC"/>
                </a:solidFill>
              </a:rPr>
              <a:t>Sustainable Development Goals (SDGs)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500">
                <a:solidFill>
                  <a:srgbClr val="F59E0B"/>
                </a:solidFill>
              </a:rPr>
              <a:t>ALIGNED GOALS
</a:t>
            </a:r>
          </a:p>
          <a:p>
            <a:r>
              <a:rPr sz="1300">
                <a:solidFill>
                  <a:srgbClr val="F8FAFC"/>
                </a:solidFill>
              </a:rPr>
              <a:t>• SDG 2: Zero Hunger
</a:t>
            </a:r>
          </a:p>
          <a:p>
            <a:r>
              <a:rPr sz="1300">
                <a:solidFill>
                  <a:srgbClr val="F8FAFC"/>
                </a:solidFill>
              </a:rPr>
              <a:t>• Supports crop yield protection, minimizes pest-driven food losses, and safeguards agricultural livelihoods.
</a:t>
            </a:r>
          </a:p>
          <a:p>
            <a:r>
              <a:rPr sz="1300">
                <a:solidFill>
                  <a:srgbClr val="F8FAFC"/>
                </a:solidFill>
              </a:rPr>
              <a:t>• SDG 9: Industry, Innovation &amp; Infrastructure
</a:t>
            </a:r>
          </a:p>
          <a:p>
            <a:r>
              <a:rPr sz="1300">
                <a:solidFill>
                  <a:srgbClr val="F8FAFC"/>
                </a:solidFill>
              </a:rPr>
              <a:t>• Applies cutting-edge artificial intelligence and autonomous robotics to modernize precision agriculture.
</a:t>
            </a:r>
          </a:p>
          <a:p>
            <a:r>
              <a:rPr sz="1300">
                <a:solidFill>
                  <a:srgbClr val="F8FAFC"/>
                </a:solidFill>
              </a:rPr>
              <a:t>• SDG 12: Responsible Consumption &amp; Production
</a:t>
            </a:r>
          </a:p>
          <a:p>
            <a:r>
              <a:rPr sz="1300">
                <a:solidFill>
                  <a:srgbClr val="F8FAFC"/>
                </a:solidFill>
              </a:rPr>
              <a:t>• Enables targeted pesticide application rather than blanket spraying, protecting soil health and water ecosystems.
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645920"/>
            <a:ext cx="5120640" cy="4572000"/>
          </a:xfrm>
          <a:prstGeom prst="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500">
                <a:solidFill>
                  <a:srgbClr val="F59E0B"/>
                </a:solidFill>
              </a:rPr>
              <a:t>SUSTAINABLE IMPACT
</a:t>
            </a:r>
          </a:p>
          <a:p>
            <a:r>
              <a:rPr sz="1300">
                <a:solidFill>
                  <a:srgbClr val="F8FAFC"/>
                </a:solidFill>
              </a:rPr>
              <a:t>• Reduces Chemical Runoff: Precision hotspot spraying prevents chemical wastage.
</a:t>
            </a:r>
          </a:p>
          <a:p>
            <a:r>
              <a:rPr sz="1300">
                <a:solidFill>
                  <a:srgbClr val="F8FAFC"/>
                </a:solidFill>
              </a:rPr>
              <a:t>• Resource Efficiency: Saves energy, inspection time, and farm operational expenditure.
</a:t>
            </a:r>
          </a:p>
          <a:p>
            <a:r>
              <a:rPr sz="1300">
                <a:solidFill>
                  <a:srgbClr val="F8FAFC"/>
                </a:solidFill>
              </a:rPr>
              <a:t>• Food Security: Early insect detection prevents rapid catastrophic infestations.
</a:t>
            </a:r>
          </a:p>
          <a:p>
            <a:r>
              <a:rPr sz="1300">
                <a:solidFill>
                  <a:srgbClr val="F8FAFC"/>
                </a:solidFill>
              </a:rPr>
              <a:t>• Data-Driven Decisions: Builds long-term digital crop history for informed farm policies.
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F59E0B"/>
                </a:solidFill>
              </a:rPr>
              <a:t>MECHATRONICS ENGINEERING</a:t>
            </a:r>
          </a:p>
          <a:p>
            <a:r>
              <a:rPr b="1" sz="2400">
                <a:solidFill>
                  <a:srgbClr val="F8FAFC"/>
                </a:solidFill>
              </a:rPr>
              <a:t>Conclusion &amp; Future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500">
                <a:solidFill>
                  <a:srgbClr val="F59E0B"/>
                </a:solidFill>
              </a:rPr>
              <a:t>CONCLUSION
</a:t>
            </a:r>
          </a:p>
          <a:p>
            <a:r>
              <a:rPr sz="1300">
                <a:solidFill>
                  <a:srgbClr val="F8FAFC"/>
                </a:solidFill>
              </a:rPr>
              <a:t>• Proposed a comprehensive AI and drone-assisted smart monitoring workflow.
</a:t>
            </a:r>
          </a:p>
          <a:p>
            <a:r>
              <a:rPr sz="1300">
                <a:solidFill>
                  <a:srgbClr val="F8FAFC"/>
                </a:solidFill>
              </a:rPr>
              <a:t>• Combines high-resolution RGB aerial imaging with automated classification.
</a:t>
            </a:r>
          </a:p>
          <a:p>
            <a:r>
              <a:rPr sz="1300">
                <a:solidFill>
                  <a:srgbClr val="F8FAFC"/>
                </a:solidFill>
              </a:rPr>
              <a:t>• Bridges the gap between drone scouting and ground-level action via GPS and mobile alerts.
</a:t>
            </a:r>
          </a:p>
          <a:p>
            <a:r>
              <a:rPr sz="1300">
                <a:solidFill>
                  <a:srgbClr val="F8FAFC"/>
                </a:solidFill>
              </a:rPr>
              <a:t>• Significantly reduces manual labour while improving systematic crop monitoring records.
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645920"/>
            <a:ext cx="5120640" cy="4572000"/>
          </a:xfrm>
          <a:prstGeom prst="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500">
                <a:solidFill>
                  <a:srgbClr val="F59E0B"/>
                </a:solidFill>
              </a:rPr>
              <a:t>FUTURE ENHANCEMENTS
</a:t>
            </a:r>
          </a:p>
          <a:p>
            <a:r>
              <a:rPr sz="1300">
                <a:solidFill>
                  <a:srgbClr val="F8FAFC"/>
                </a:solidFill>
              </a:rPr>
              <a:t>• Multi-Spectral &amp; Thermal Sensors: Detection of water stress and sub-visual disease signatures.
</a:t>
            </a:r>
          </a:p>
          <a:p>
            <a:r>
              <a:rPr sz="1300">
                <a:solidFill>
                  <a:srgbClr val="F8FAFC"/>
                </a:solidFill>
              </a:rPr>
              <a:t>• Expanded Crop &amp; Pest Taxonomies: Multi-class pest and disease identification.
</a:t>
            </a:r>
          </a:p>
          <a:p>
            <a:r>
              <a:rPr sz="1300">
                <a:solidFill>
                  <a:srgbClr val="F8FAFC"/>
                </a:solidFill>
              </a:rPr>
              <a:t>• Edge AI Deployment: Real-time onboard drone inference (NVIDIA Jetson / Edge TPU).
</a:t>
            </a:r>
          </a:p>
          <a:p>
            <a:r>
              <a:rPr sz="1300">
                <a:solidFill>
                  <a:srgbClr val="F8FAFC"/>
                </a:solidFill>
              </a:rPr>
              <a:t>• Autonomous Swarm Scouting: Multi-drone coordinated fleet coverage for mega-plantations.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